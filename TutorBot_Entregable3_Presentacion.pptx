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9381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6bde32f-9f9b-4fd8-b25b-b75dd55dc300.png"/>
          <p:cNvPicPr>
            <a:picLocks noChangeAspect="1"/>
          </p:cNvPicPr>
          <p:nvPr/>
        </p:nvPicPr>
        <p:blipFill>
          <a:blip r:embed="rId3"/>
          <a:srcRect l="27472" r="27472"/>
          <a:stretch/>
        </p:blipFill>
        <p:spPr>
          <a:xfrm>
            <a:off x="6172200" y="0"/>
            <a:ext cx="60167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0" y="0"/>
            <a:ext cx="6092952" cy="6858000"/>
          </a:xfrm>
          <a:prstGeom prst="rect">
            <a:avLst/>
          </a:prstGeom>
          <a:solidFill>
            <a:srgbClr val="000000">
              <a:alpha val="7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2344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TutorBot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13232" y="18745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8E0D0"/>
                </a:solidFill>
              </a:rPr>
              <a:t>Agente académico con RAG, herramientas MCP y despliegue web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13232" y="2542032"/>
            <a:ext cx="3749040" cy="0"/>
          </a:xfrm>
          <a:prstGeom prst="line">
            <a:avLst/>
          </a:prstGeom>
          <a:noFill/>
          <a:ln w="27940">
            <a:solidFill>
              <a:srgbClr val="F9731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2834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Entregable 3 · Grupo 5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13232" y="61722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8E6FF"/>
                </a:solidFill>
              </a:rPr>
              <a:t>https://tutorbot-production-6cf1.up.railway.app/</a:t>
            </a:r>
            <a:endParaRPr lang="en-US" sz="105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70B5DDB-FB7A-418E-86DF-2883C99B3F9B}"/>
              </a:ext>
            </a:extLst>
          </p:cNvPr>
          <p:cNvSpPr txBox="1"/>
          <p:nvPr/>
        </p:nvSpPr>
        <p:spPr>
          <a:xfrm>
            <a:off x="685800" y="4775285"/>
            <a:ext cx="4706471" cy="715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spcBef>
                <a:spcPts val="0"/>
              </a:spcBef>
              <a:spcAft>
                <a:spcPts val="0"/>
              </a:spcAft>
              <a:buClr>
                <a:srgbClr val="AAC7D1"/>
              </a:buClr>
              <a:buSzPts val="900"/>
            </a:pPr>
            <a:r>
              <a:rPr lang="es-PE" sz="1350" b="1" dirty="0">
                <a:solidFill>
                  <a:srgbClr val="FFFFFF"/>
                </a:solidFill>
              </a:rPr>
              <a:t>Equipo: </a:t>
            </a:r>
          </a:p>
          <a:p>
            <a:pPr marR="0" lvl="0">
              <a:spcBef>
                <a:spcPts val="0"/>
              </a:spcBef>
              <a:spcAft>
                <a:spcPts val="0"/>
              </a:spcAft>
              <a:buClr>
                <a:srgbClr val="AAC7D1"/>
              </a:buClr>
              <a:buSzPts val="900"/>
            </a:pPr>
            <a:r>
              <a:rPr lang="es-PE" sz="1350" dirty="0">
                <a:solidFill>
                  <a:srgbClr val="FFFFFF"/>
                </a:solidFill>
              </a:rPr>
              <a:t>Mario Ampuero · Robin Villegas · Diego Chiang · Eduardo Ruiz · Eduardo </a:t>
            </a:r>
            <a:r>
              <a:rPr lang="es-PE" sz="1350" dirty="0" err="1">
                <a:solidFill>
                  <a:srgbClr val="FFFFFF"/>
                </a:solidFill>
              </a:rPr>
              <a:t>Velasquez</a:t>
            </a:r>
            <a:endParaRPr lang="es-PE" sz="1350" dirty="0">
              <a:solidFill>
                <a:srgbClr val="FFFFFF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Cobertura del entregable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59" y="658368"/>
            <a:ext cx="10970111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sigue el mapa de evaluación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Cada bloque del proyecto se vincula a un artefacto verificable.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837944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34440" y="1764792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Arquitectura</a:t>
            </a:r>
            <a:endParaRPr lang="en-US" sz="1240" dirty="0"/>
          </a:p>
        </p:txBody>
      </p:sp>
      <p:sp>
        <p:nvSpPr>
          <p:cNvPr id="10" name="Text 8"/>
          <p:cNvSpPr/>
          <p:nvPr/>
        </p:nvSpPr>
        <p:spPr>
          <a:xfrm>
            <a:off x="2788920" y="176479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Diagrama con interacción entre corpus, RAG, MCP, Gemini y Gradio/Railway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685800" y="2359152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414016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34440" y="2340864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Recursos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2788920" y="234086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Corpus de 9 cursos, GitHub Release, BGE-M3, FAISS, Gemini y Railway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685800" y="2935224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008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34440" y="2916936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Evaluación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2788920" y="2916936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Retriever, enrutamiento y generación con métricas separadas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85800" y="3511296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6616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234440" y="3493008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Implementación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2788920" y="3493008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App operativa en Railway con interfaz Gradio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685800" y="4087368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16825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142232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34440" y="406908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Flujos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2788920" y="4069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Concepto, código, guía, aclaración y fallback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685800" y="4663440"/>
            <a:ext cx="411480" cy="292608"/>
          </a:xfrm>
          <a:prstGeom prst="roundRect">
            <a:avLst>
              <a:gd name="adj" fmla="val 12500"/>
            </a:avLst>
          </a:prstGeom>
          <a:solidFill>
            <a:srgbClr val="16825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718304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234440" y="4645152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7202A"/>
                </a:solidFill>
              </a:rPr>
              <a:t>Cierre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788920" y="464515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Limitaciones y mejoras futuras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8001000" y="4617720"/>
            <a:ext cx="3429000" cy="950976"/>
          </a:xfrm>
          <a:prstGeom prst="roundRect">
            <a:avLst>
              <a:gd name="adj" fmla="val 5769"/>
            </a:avLst>
          </a:prstGeom>
          <a:solidFill>
            <a:srgbClr val="FFF1DD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29016" y="4727448"/>
            <a:ext cx="3172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Criterio clave: los flujos no se presentan como intents aislados, sino como rutas distintas de ejecución con herramientas y fallback.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01000" y="1600200"/>
            <a:ext cx="3429000" cy="2331720"/>
          </a:xfrm>
          <a:prstGeom prst="roundRect">
            <a:avLst>
              <a:gd name="adj" fmla="val 1961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10728" y="1691640"/>
            <a:ext cx="32095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Artefactos usados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notebook.ipynb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indices/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railway.json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Recursos y alcance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07442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TutorBot cubre el diplomado completo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base de conocimiento integra los materiales de los 3 ciclos.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713232" y="171907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97316"/>
                </a:solidFill>
              </a:rPr>
              <a:t>15,412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3232" y="217627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chunks generados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14600" y="171907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825D"/>
                </a:solidFill>
              </a:rPr>
              <a:t>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514600" y="2176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cursos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913632" y="17190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2D5BFF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913632" y="21762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ciclos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171907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7651C9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30368" y="21762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tipos de contenido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3127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</a:rPr>
              <a:t>Ciclo 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74520" y="3136392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Machine Learning · Python · Visualización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777240" y="369417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825D"/>
                </a:solidFill>
              </a:rPr>
              <a:t>Ciclo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74520" y="370332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Sentimientos · Visión Artificial · IA para Juegos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777240" y="426110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5BFF"/>
                </a:solidFill>
              </a:rPr>
              <a:t>Ciclo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874520" y="427024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Chatbots · Optimización Evolutiva · Series Temporales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777240" y="4983480"/>
            <a:ext cx="6327648" cy="713232"/>
          </a:xfrm>
          <a:prstGeom prst="roundRect">
            <a:avLst>
              <a:gd name="adj" fmla="val 7692"/>
            </a:avLst>
          </a:prstGeom>
          <a:solidFill>
            <a:srgbClr val="FFF8E9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5093208"/>
            <a:ext cx="60716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Los recursos del proyecto incluyen dataset propio, notebooks, transcripciones, slides, GitHub Release, Gemini, BGE-M3, FAISS, FastMCP, Gradio y Railway.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35240" y="1417320"/>
            <a:ext cx="3703320" cy="1481328"/>
          </a:xfrm>
          <a:prstGeom prst="roundRect">
            <a:avLst>
              <a:gd name="adj" fmla="val 3086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44968" y="1508760"/>
            <a:ext cx="348386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6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ZIP_URL = "https://github.com/DiegoChiang/TutorBot/"\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"releases/latest/download/Utils_Chatbot.zip"</a:t>
            </a:r>
            <a:endParaRPr lang="en-US" sz="860" dirty="0"/>
          </a:p>
          <a:p>
            <a:pPr marL="0" indent="0">
              <a:buNone/>
            </a:pP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descarga pública sin login</a:t>
            </a:r>
            <a:endParaRPr lang="en-US" sz="860" dirty="0"/>
          </a:p>
          <a:p>
            <a:pPr marL="0" indent="0">
              <a:buNone/>
            </a:pPr>
            <a:r>
              <a:rPr lang="en-US" sz="86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requests.get(ZIP_URL, stream=True)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7635240" y="3337560"/>
            <a:ext cx="3703320" cy="1444752"/>
          </a:xfrm>
          <a:prstGeom prst="roundRect">
            <a:avLst>
              <a:gd name="adj" fmla="val 3165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44968" y="3429000"/>
            <a:ext cx="34838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salida de ingesta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de chunks: 15412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transcripcion: 8210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slide: 3779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codigo: 3402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Diseño de evaluación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59" y="658368"/>
            <a:ext cx="9421707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conjunto de validación prueba 9 cursos y 5 conductas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Cada curso aporta una pregunta conceptual, una de código y una guía de tarea.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</a:rPr>
              <a:t>Ciclo 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ML · Python · Visualización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4480560" y="1600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825D"/>
                </a:solidFill>
              </a:rPr>
              <a:t>Ciclo 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193852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Sentimientos · Visión · Juegos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8229600" y="1600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5BFF"/>
                </a:solidFill>
              </a:rPr>
              <a:t>Ciclo 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0" y="193852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02A"/>
                </a:solidFill>
              </a:rPr>
              <a:t>Chatbots · Optimización · Series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825D"/>
                </a:solidFill>
              </a:rPr>
              <a:t>27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68680" y="3200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casos con referencias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0" y="2743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7651C9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657600" y="3200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ambiguos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743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B8483D"/>
                </a:solidFill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46520" y="3200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fuera de alcance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35440" y="2743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97316"/>
                </a:solidFill>
              </a:rPr>
              <a:t>32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35440" y="3200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casos totales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" y="4572000"/>
            <a:ext cx="5440680" cy="1207008"/>
          </a:xfrm>
          <a:prstGeom prst="roundRect">
            <a:avLst>
              <a:gd name="adj" fmla="val 3788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8408" y="4663440"/>
            <a:ext cx="522122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curso, pregunta, keywords, respuesta in CONCEPTOS: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eval_set.append({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"curso": curso,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"herramienta_esperada": "responder_concepto",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"chunks_relevantes": referencias_para(curso, {"slide","transcripcion"}, keywords)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629400" y="4572000"/>
            <a:ext cx="4663440" cy="1207008"/>
          </a:xfrm>
          <a:prstGeom prst="roundRect">
            <a:avLst>
              <a:gd name="adj" fmla="val 3788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39128" y="4663440"/>
            <a:ext cx="44439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EXTRAS = [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("ambiguo", "¿Cómo lo hago?", "pedir_aclaracion", ...),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("fuera_de_alcance", "¿Cuál es la capital de Japón?", "responder_concepto", ...),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810" dirty="0"/>
          </a:p>
        </p:txBody>
      </p:sp>
      <p:sp>
        <p:nvSpPr>
          <p:cNvPr id="25" name="Text 23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Ingesta y trazabilidad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fragmento sabe de dónde viene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metadata evita mezclar cursos y permite explicar la fuente de cada respuesta.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2A"/>
                </a:solidFill>
              </a:rPr>
              <a:t>Transcripción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057400" y="2011680"/>
            <a:ext cx="4434840" cy="164592"/>
          </a:xfrm>
          <a:prstGeom prst="rect">
            <a:avLst/>
          </a:prstGeom>
          <a:solidFill>
            <a:srgbClr val="E9E2D5"/>
          </a:solidFill>
          <a:ln w="12700">
            <a:solidFill>
              <a:srgbClr val="E9E2D5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57400" y="2011680"/>
            <a:ext cx="4297680" cy="164592"/>
          </a:xfrm>
          <a:prstGeom prst="rect">
            <a:avLst/>
          </a:prstGeom>
          <a:solidFill>
            <a:srgbClr val="16825D"/>
          </a:solidFill>
          <a:ln w="12700">
            <a:solidFill>
              <a:srgbClr val="16825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00253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8210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77240" y="25877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2A"/>
                </a:solidFill>
              </a:rPr>
              <a:t>Slides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057400" y="2587752"/>
            <a:ext cx="4434840" cy="164592"/>
          </a:xfrm>
          <a:prstGeom prst="rect">
            <a:avLst/>
          </a:prstGeom>
          <a:solidFill>
            <a:srgbClr val="E9E2D5"/>
          </a:solidFill>
          <a:ln w="12700">
            <a:solidFill>
              <a:srgbClr val="E9E2D5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2587752"/>
            <a:ext cx="1978189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578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3779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777240" y="31638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2A"/>
                </a:solidFill>
              </a:rPr>
              <a:t>Código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2057400" y="3163824"/>
            <a:ext cx="4434840" cy="164592"/>
          </a:xfrm>
          <a:prstGeom prst="rect">
            <a:avLst/>
          </a:prstGeom>
          <a:solidFill>
            <a:srgbClr val="E9E2D5"/>
          </a:solidFill>
          <a:ln w="12700">
            <a:solidFill>
              <a:srgbClr val="E9E2D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3163824"/>
            <a:ext cx="1780841" cy="164592"/>
          </a:xfrm>
          <a:prstGeom prst="rect">
            <a:avLst/>
          </a:prstGeom>
          <a:solidFill>
            <a:srgbClr val="2D5BFF"/>
          </a:solidFill>
          <a:ln w="12700">
            <a:solidFill>
              <a:srgbClr val="2D5B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1546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3402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777240" y="37398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7202A"/>
                </a:solidFill>
              </a:rPr>
              <a:t>Admin.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2057400" y="3739896"/>
            <a:ext cx="4434840" cy="164592"/>
          </a:xfrm>
          <a:prstGeom prst="rect">
            <a:avLst/>
          </a:prstGeom>
          <a:solidFill>
            <a:srgbClr val="E9E2D5"/>
          </a:solidFill>
          <a:ln w="12700">
            <a:solidFill>
              <a:srgbClr val="E9E2D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739896"/>
            <a:ext cx="10993" cy="164592"/>
          </a:xfrm>
          <a:prstGeom prst="rect">
            <a:avLst/>
          </a:prstGeom>
          <a:solidFill>
            <a:srgbClr val="7651C9"/>
          </a:solidFill>
          <a:ln w="12700">
            <a:solidFill>
              <a:srgbClr val="7651C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73075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21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77240" y="4617720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FF8E9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727448"/>
            <a:ext cx="65105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La ingesta separa tres fuentes: Markdown Textos, Markdown Videos y Notebooks. Los notebooks se procesan por celda para recuperar código explicable.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1234440"/>
            <a:ext cx="3611880" cy="2834640"/>
          </a:xfrm>
          <a:prstGeom prst="roundRect">
            <a:avLst>
              <a:gd name="adj" fmla="val 1613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27848" y="1325880"/>
            <a:ext cx="339242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meta["chunk_id"] = (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f"{meta['ruta_relativa']}#{contador:03d}"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10" dirty="0"/>
          </a:p>
          <a:p>
            <a:pPr marL="0" indent="0">
              <a:buNone/>
            </a:pP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chunks.append({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"texto": parte,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meta</a:t>
            </a:r>
            <a:endParaRPr lang="en-US" sz="910" dirty="0"/>
          </a:p>
          <a:p>
            <a:pPr marL="0" indent="0">
              <a:buNone/>
            </a:pPr>
            <a:r>
              <a:rPr lang="en-US" sz="9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Arquitectura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072806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en dos momentos: construcción y ejecución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app desplegada no reconstruye el corpus; carga índices FAISS ya generados.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1554480" y="2971800"/>
            <a:ext cx="150876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2971800"/>
            <a:ext cx="137160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903720" y="2971800"/>
            <a:ext cx="137160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555480" y="2971800"/>
            <a:ext cx="96012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17920" y="3415553"/>
            <a:ext cx="0" cy="1463040"/>
          </a:xfrm>
          <a:prstGeom prst="line">
            <a:avLst/>
          </a:prstGeom>
          <a:noFill/>
          <a:ln w="15875">
            <a:solidFill>
              <a:srgbClr val="16825D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869680" y="3392425"/>
            <a:ext cx="0" cy="1499616"/>
          </a:xfrm>
          <a:prstGeom prst="line">
            <a:avLst/>
          </a:prstGeom>
          <a:noFill/>
          <a:ln w="15875">
            <a:solidFill>
              <a:srgbClr val="16825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" y="2523744"/>
            <a:ext cx="1783080" cy="868680"/>
          </a:xfrm>
          <a:prstGeom prst="roundRect">
            <a:avLst>
              <a:gd name="adj" fmla="val 4211"/>
            </a:avLst>
          </a:prstGeom>
          <a:solidFill>
            <a:srgbClr val="FCEEDC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8952" y="2587752"/>
            <a:ext cx="163677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GitHub Release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Utils_Chatbot.zip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2523744"/>
            <a:ext cx="1874520" cy="868680"/>
          </a:xfrm>
          <a:prstGeom prst="roundRect">
            <a:avLst>
              <a:gd name="adj" fmla="val 4211"/>
            </a:avLst>
          </a:prstGeom>
          <a:solidFill>
            <a:srgbClr val="FFF8E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862072" y="2587752"/>
            <a:ext cx="172821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Colab notebook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ingesta + evaluación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49240" y="2523744"/>
            <a:ext cx="1691640" cy="868680"/>
          </a:xfrm>
          <a:prstGeom prst="roundRect">
            <a:avLst>
              <a:gd name="adj" fmla="val 4211"/>
            </a:avLst>
          </a:prstGeom>
          <a:solidFill>
            <a:srgbClr val="E9F5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22392" y="2587752"/>
            <a:ext cx="154533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BGE-M3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embeddings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28432" y="2523744"/>
            <a:ext cx="1600200" cy="868680"/>
          </a:xfrm>
          <a:prstGeom prst="roundRect">
            <a:avLst>
              <a:gd name="adj" fmla="val 4211"/>
            </a:avLst>
          </a:prstGeom>
          <a:solidFill>
            <a:srgbClr val="E8F0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01584" y="2587752"/>
            <a:ext cx="145389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FAISS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indices/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287000" y="2523744"/>
            <a:ext cx="1417320" cy="868680"/>
          </a:xfrm>
          <a:prstGeom prst="roundRect">
            <a:avLst>
              <a:gd name="adj" fmla="val 4211"/>
            </a:avLst>
          </a:prstGeom>
          <a:solidFill>
            <a:srgbClr val="EFEAFE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360152" y="2587752"/>
            <a:ext cx="1271016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Railway + Gradio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app.py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94960" y="4983480"/>
            <a:ext cx="1737360" cy="777240"/>
          </a:xfrm>
          <a:prstGeom prst="roundRect">
            <a:avLst>
              <a:gd name="adj" fmla="val 4706"/>
            </a:avLst>
          </a:prstGeom>
          <a:solidFill>
            <a:srgbClr val="E9F5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68112" y="5047488"/>
            <a:ext cx="1591056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Gemini 3.1 Pro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routing + generación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28432" y="4983480"/>
            <a:ext cx="1691640" cy="777240"/>
          </a:xfrm>
          <a:prstGeom prst="roundRect">
            <a:avLst>
              <a:gd name="adj" fmla="val 4706"/>
            </a:avLst>
          </a:prstGeom>
          <a:solidFill>
            <a:srgbClr val="FFF1D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01584" y="5047488"/>
            <a:ext cx="1545336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FastMCP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7202A"/>
                </a:solidFill>
              </a:rPr>
              <a:t>herramientas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3232" y="18745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</a:rPr>
              <a:t>Construcción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825D"/>
                </a:solidFill>
              </a:rPr>
              <a:t>Ejecución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4956048"/>
            <a:ext cx="4069080" cy="1024128"/>
          </a:xfrm>
          <a:prstGeom prst="roundRect">
            <a:avLst>
              <a:gd name="adj" fmla="val 4464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5047488"/>
            <a:ext cx="38496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MAPA_INDICE = {</a:t>
            </a:r>
            <a:endParaRPr lang="en-US" sz="790" dirty="0"/>
          </a:p>
          <a:p>
            <a:pPr marL="0" indent="0">
              <a:buNone/>
            </a:pPr>
            <a:r>
              <a:rPr lang="en-US" sz="79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frozenset({"slide","transcripcion"}): "concepto",</a:t>
            </a:r>
            <a:endParaRPr lang="en-US" sz="790" dirty="0"/>
          </a:p>
          <a:p>
            <a:pPr marL="0" indent="0">
              <a:buNone/>
            </a:pPr>
            <a:r>
              <a:rPr lang="en-US" sz="79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frozenset({"codigo"}): "codigo",</a:t>
            </a:r>
            <a:endParaRPr lang="en-US" sz="790" dirty="0"/>
          </a:p>
          <a:p>
            <a:pPr marL="0" indent="0">
              <a:buNone/>
            </a:pPr>
            <a:r>
              <a:rPr lang="en-US" sz="79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frozenset({"slide","transcripcion","codigo","administrativo"}): "tarea",</a:t>
            </a:r>
            <a:endParaRPr lang="en-US" sz="790" dirty="0"/>
          </a:p>
          <a:p>
            <a:pPr marL="0" indent="0">
              <a:buNone/>
            </a:pPr>
            <a:r>
              <a:rPr lang="en-US" sz="79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31" name="Text 29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Recuperación y evidencia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1201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RAG decide con evidencia recuperada, no con memoria del modelo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respuesta se condiciona a fragmentos con fuente, curso, ciclo y distancia.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685800" y="1572768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E9F5F0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682496"/>
            <a:ext cx="48646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BGE-M3 transforma consulta y documentos en vectores; FAISS recupera los fragmentos más cercanos; el umbral evita responder cuando no hay evidencia suficiente.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063240"/>
            <a:ext cx="5120640" cy="1298448"/>
          </a:xfrm>
          <a:prstGeom prst="roundRect">
            <a:avLst>
              <a:gd name="adj" fmla="val 3521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3154680"/>
            <a:ext cx="490118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recuperar(consulta, tipos=None, k=K_GENERACION):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obtener_indice(tipos)\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.similarity_search_with_score(consulta, k=k)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UMBRAL_DISTANCIA = 0.9243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85800" y="4736592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4828032"/>
            <a:ext cx="4901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suficiente: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fn_fallback(pregunta, "fuera_alcance")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_generar(system, user)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46520" y="1353312"/>
            <a:ext cx="50749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7620">
            <a:solidFill>
              <a:srgbClr val="D6CAB4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15910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2A"/>
                </a:solidFill>
              </a:rPr>
              <a:t>Formato de contexto recuperado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720840" y="2176272"/>
            <a:ext cx="4526280" cy="1325880"/>
          </a:xfrm>
          <a:prstGeom prst="roundRect">
            <a:avLst>
              <a:gd name="adj" fmla="val 3448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0568" y="2267712"/>
            <a:ext cx="4306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[Fuente: Ciclo 2 · Visión Artificial · NB03_Filtrado.ipynb | distancia 0.31]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convolucion(imagen, kernel):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20840" y="38221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825D"/>
                </a:solidFill>
              </a:rPr>
              <a:t>Ventaja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20840" y="41605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La cita interna queda disponible para explicar por qué se eligió un fragmento, incluso cuando la consulta es transversal a varios cursos.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Flujos de conversación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rutas independientes, una de ellas fallback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El agente selecciona una herramienta MCP distinta según intención y evidencia.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731520" y="1600200"/>
            <a:ext cx="2011680" cy="438912"/>
          </a:xfrm>
          <a:prstGeom prst="roundRect">
            <a:avLst>
              <a:gd name="adj" fmla="val 10417"/>
            </a:avLst>
          </a:prstGeom>
          <a:solidFill>
            <a:srgbClr val="16825D"/>
          </a:solidFill>
          <a:ln w="12700">
            <a:solidFill>
              <a:srgbClr val="16825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71907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Concepto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71800" y="1673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7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responder_concepto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5440680" y="166420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teoría / definiciones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2313432"/>
            <a:ext cx="2011680" cy="438912"/>
          </a:xfrm>
          <a:prstGeom prst="roundRect">
            <a:avLst>
              <a:gd name="adj" fmla="val 10417"/>
            </a:avLst>
          </a:prstGeom>
          <a:solidFill>
            <a:srgbClr val="2D5BFF"/>
          </a:solidFill>
          <a:ln w="12700">
            <a:solidFill>
              <a:srgbClr val="2D5B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43230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Código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71800" y="2386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7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explicar_codigo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5440680" y="2377440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funciones / celdas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3026664"/>
            <a:ext cx="2011680" cy="438912"/>
          </a:xfrm>
          <a:prstGeom prst="roundRect">
            <a:avLst>
              <a:gd name="adj" fmla="val 10417"/>
            </a:avLst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14553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Guía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71800" y="30998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7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guiar_tarea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pasos accionables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20" y="3739896"/>
            <a:ext cx="2011680" cy="438912"/>
          </a:xfrm>
          <a:prstGeom prst="roundRect">
            <a:avLst>
              <a:gd name="adj" fmla="val 10417"/>
            </a:avLst>
          </a:prstGeom>
          <a:solidFill>
            <a:srgbClr val="7651C9"/>
          </a:solidFill>
          <a:ln w="12700">
            <a:solidFill>
              <a:srgbClr val="7651C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85876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Aclaración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71800" y="38130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7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pedir_aclaracion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5440680" y="3803904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consulta ambigua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1520" y="4453128"/>
            <a:ext cx="2011680" cy="438912"/>
          </a:xfrm>
          <a:prstGeom prst="roundRect">
            <a:avLst>
              <a:gd name="adj" fmla="val 10417"/>
            </a:avLst>
          </a:prstGeom>
          <a:solidFill>
            <a:srgbClr val="B8483D"/>
          </a:solidFill>
          <a:ln w="12700">
            <a:solidFill>
              <a:srgbClr val="B8483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57200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Fallback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971800" y="45262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720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fn_fallback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440680" y="4517136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</a:rPr>
              <a:t>sin evidencia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92440" y="1481328"/>
            <a:ext cx="3429000" cy="3977640"/>
          </a:xfrm>
          <a:prstGeom prst="roundRect">
            <a:avLst>
              <a:gd name="adj" fmla="val 1333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02168" y="1572768"/>
            <a:ext cx="3209544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@mcp_server.tool()</a:t>
            </a: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responder_concepto(pregunta: str) -&gt; str: ...</a:t>
            </a:r>
            <a:endParaRPr lang="en-US" sz="730" dirty="0"/>
          </a:p>
          <a:p>
            <a:pPr marL="0" indent="0">
              <a:buNone/>
            </a:pP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@mcp_server.tool()</a:t>
            </a: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explicar_codigo(pregunta: str) -&gt; str: ...</a:t>
            </a:r>
            <a:endParaRPr lang="en-US" sz="730" dirty="0"/>
          </a:p>
          <a:p>
            <a:pPr marL="0" indent="0">
              <a:buNone/>
            </a:pP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@mcp_server.tool()</a:t>
            </a: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guiar_tarea(tarea: str, detalle: str = "") -&gt; str: ...</a:t>
            </a:r>
            <a:endParaRPr lang="en-US" sz="730" dirty="0"/>
          </a:p>
          <a:p>
            <a:pPr marL="0" indent="0">
              <a:buNone/>
            </a:pP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@mcp_server.tool()</a:t>
            </a:r>
            <a:endParaRPr lang="en-US" sz="730" dirty="0"/>
          </a:p>
          <a:p>
            <a:pPr marL="0" indent="0">
              <a:buNone/>
            </a:pPr>
            <a:r>
              <a:rPr lang="en-US" sz="73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pedir_aclaracion(consulta: str) -&gt; str: ...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731520" y="5349240"/>
            <a:ext cx="6537960" cy="658368"/>
          </a:xfrm>
          <a:prstGeom prst="roundRect">
            <a:avLst>
              <a:gd name="adj" fmla="val 8333"/>
            </a:avLst>
          </a:prstGeom>
          <a:solidFill>
            <a:srgbClr val="FFF1DD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5458968"/>
            <a:ext cx="6281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La diferencia no es solo textual: cada flujo consulta tipos de índice y prompts distintos.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Memoria corta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032465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memoria corta resuelve preguntas de seguimiento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El historial de Gradio se normaliza y se reescribe la consulta antes del RAG.</a:t>
            </a:r>
            <a:endParaRPr lang="en-US" sz="980" dirty="0"/>
          </a:p>
        </p:txBody>
      </p:sp>
      <p:pic>
        <p:nvPicPr>
          <p:cNvPr id="7" name="Image 0" descr="/mnt/data/3ab4383c-4568-40b1-ab4e-314ea91dfee6.png"/>
          <p:cNvPicPr>
            <a:picLocks noChangeAspect="1"/>
          </p:cNvPicPr>
          <p:nvPr/>
        </p:nvPicPr>
        <p:blipFill rotWithShape="1">
          <a:blip r:embed="rId3"/>
          <a:srcRect l="568" r="3325"/>
          <a:stretch/>
        </p:blipFill>
        <p:spPr>
          <a:xfrm>
            <a:off x="182880" y="1912800"/>
            <a:ext cx="6217919" cy="32275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Shape 5"/>
          <p:cNvSpPr/>
          <p:nvPr/>
        </p:nvSpPr>
        <p:spPr>
          <a:xfrm>
            <a:off x="6629400" y="1572768"/>
            <a:ext cx="4983480" cy="2743200"/>
          </a:xfrm>
          <a:prstGeom prst="roundRect">
            <a:avLst>
              <a:gd name="adj" fmla="val 1667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39128" y="1664208"/>
            <a:ext cx="47640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historial_normalizado = normalizar_historial_gradio(history)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consulta_contextual = await contextualizar_consulta(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historial_normalizado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respuesta, _ = await agente(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consulta_contextual,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historial=historial_normalizado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629400" y="4681728"/>
            <a:ext cx="4983480" cy="841248"/>
          </a:xfrm>
          <a:prstGeom prst="roundRect">
            <a:avLst>
              <a:gd name="adj" fmla="val 6522"/>
            </a:avLst>
          </a:prstGeom>
          <a:solidFill>
            <a:srgbClr val="E9F5F0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57416" y="4791456"/>
            <a:ext cx="4727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Caso probado: “¿Me puedes dar un ejemplo de cada uno?” se resuelve usando el tema anterior: aprendizaje supervisado vs. no supervisado.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Implementación y despliegue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09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aplicación está desplegada y operativa en Railway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El runtime usa Docker, variables de entorno y una interfaz Gradio pública.</a:t>
            </a:r>
            <a:endParaRPr lang="en-US" sz="980" dirty="0"/>
          </a:p>
        </p:txBody>
      </p:sp>
      <p:pic>
        <p:nvPicPr>
          <p:cNvPr id="7" name="Image 0" descr="/mnt/data/7556199d-6e34-4b7b-b41c-1f2adcf3df76.png"/>
          <p:cNvPicPr>
            <a:picLocks noChangeAspect="1"/>
          </p:cNvPicPr>
          <p:nvPr/>
        </p:nvPicPr>
        <p:blipFill>
          <a:blip r:embed="rId3"/>
          <a:srcRect l="7082" r="7082"/>
          <a:stretch/>
        </p:blipFill>
        <p:spPr>
          <a:xfrm>
            <a:off x="640080" y="1508760"/>
            <a:ext cx="5303520" cy="2926080"/>
          </a:xfrm>
          <a:prstGeom prst="rect">
            <a:avLst/>
          </a:prstGeom>
        </p:spPr>
      </p:pic>
      <p:pic>
        <p:nvPicPr>
          <p:cNvPr id="8" name="Image 1" descr="/mnt/data/2877a550-cce5-440f-b0cf-9295ab48f369.png"/>
          <p:cNvPicPr>
            <a:picLocks noChangeAspect="1"/>
          </p:cNvPicPr>
          <p:nvPr/>
        </p:nvPicPr>
        <p:blipFill>
          <a:blip r:embed="rId4"/>
          <a:srcRect t="18037" b="18037"/>
          <a:stretch/>
        </p:blipFill>
        <p:spPr>
          <a:xfrm>
            <a:off x="640080" y="4480560"/>
            <a:ext cx="5303520" cy="15727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0" y="1600200"/>
            <a:ext cx="5166360" cy="2331720"/>
          </a:xfrm>
          <a:prstGeom prst="roundRect">
            <a:avLst>
              <a:gd name="adj" fmla="val 1961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10528" y="1691640"/>
            <a:ext cx="49469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__name__ == "__main__":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 = int(os.getenv("PORT", "7860"))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demo.queue()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demo.launch(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server_name="0.0.0.0",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server_port=port,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show_error=True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400800" y="4206240"/>
            <a:ext cx="5166360" cy="1554480"/>
          </a:xfrm>
          <a:prstGeom prst="roundRect">
            <a:avLst>
              <a:gd name="adj" fmla="val 2941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10528" y="4297680"/>
            <a:ext cx="49469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railway.json</a:t>
            </a:r>
            <a:endParaRPr lang="en-US" sz="940" dirty="0"/>
          </a:p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40" dirty="0"/>
          </a:p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"build": { "builder": "DOCKERFILE" }</a:t>
            </a:r>
            <a:endParaRPr lang="en-US" sz="940" dirty="0"/>
          </a:p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40" dirty="0"/>
          </a:p>
          <a:p>
            <a:pPr marL="0" indent="0">
              <a:buNone/>
            </a:pPr>
            <a:endParaRPr lang="en-US" sz="940" dirty="0"/>
          </a:p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 = Railway Variable</a:t>
            </a:r>
            <a:endParaRPr lang="en-US" sz="940" dirty="0"/>
          </a:p>
          <a:p>
            <a:pPr marL="0" indent="0">
              <a:buNone/>
            </a:pPr>
            <a:r>
              <a:rPr lang="en-US" sz="94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HF_TOKEN = Railway Variable</a:t>
            </a:r>
            <a:endParaRPr lang="en-US" sz="940" dirty="0"/>
          </a:p>
        </p:txBody>
      </p:sp>
      <p:sp>
        <p:nvSpPr>
          <p:cNvPr id="13" name="Text 9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Validación funcional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59" y="658368"/>
            <a:ext cx="10849087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pruebas manuales cubren los flujos principales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misma URL permite probar concepto, código, guía, aclaración y fallback.</a:t>
            </a:r>
            <a:endParaRPr lang="en-US" sz="980" dirty="0"/>
          </a:p>
        </p:txBody>
      </p:sp>
      <p:sp>
        <p:nvSpPr>
          <p:cNvPr id="8" name="Text 5"/>
          <p:cNvSpPr/>
          <p:nvPr/>
        </p:nvSpPr>
        <p:spPr>
          <a:xfrm>
            <a:off x="731520" y="16642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6825D"/>
                </a:solidFill>
              </a:rPr>
              <a:t>Concepto</a:t>
            </a:r>
            <a:endParaRPr lang="en-US" sz="1180" dirty="0"/>
          </a:p>
        </p:txBody>
      </p:sp>
      <p:sp>
        <p:nvSpPr>
          <p:cNvPr id="9" name="Text 6"/>
          <p:cNvSpPr/>
          <p:nvPr/>
        </p:nvSpPr>
        <p:spPr>
          <a:xfrm>
            <a:off x="2240280" y="166420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7202A"/>
                </a:solidFill>
              </a:rPr>
              <a:t>¿Qué diferencia hay entre aprendizaje supervisado y no supervisado?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731520" y="232257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D5BFF"/>
                </a:solidFill>
              </a:rPr>
              <a:t>Código</a:t>
            </a:r>
            <a:endParaRPr lang="en-US" sz="1180" dirty="0"/>
          </a:p>
        </p:txBody>
      </p:sp>
      <p:sp>
        <p:nvSpPr>
          <p:cNvPr id="11" name="Text 8"/>
          <p:cNvSpPr/>
          <p:nvPr/>
        </p:nvSpPr>
        <p:spPr>
          <a:xfrm>
            <a:off x="2240280" y="232257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7202A"/>
                </a:solidFill>
              </a:rPr>
              <a:t>¿Qué hace la clase QLearningAgent?</a:t>
            </a:r>
            <a:endParaRPr lang="en-US" sz="1060" dirty="0"/>
          </a:p>
        </p:txBody>
      </p:sp>
      <p:sp>
        <p:nvSpPr>
          <p:cNvPr id="12" name="Text 9"/>
          <p:cNvSpPr/>
          <p:nvPr/>
        </p:nvSpPr>
        <p:spPr>
          <a:xfrm>
            <a:off x="731520" y="298094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97316"/>
                </a:solidFill>
              </a:rPr>
              <a:t>Guía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2240280" y="298094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7202A"/>
                </a:solidFill>
              </a:rPr>
              <a:t>Quiero crear un dashboard con Streamlit</a:t>
            </a:r>
            <a:endParaRPr lang="en-US" sz="1060" dirty="0"/>
          </a:p>
        </p:txBody>
      </p:sp>
      <p:sp>
        <p:nvSpPr>
          <p:cNvPr id="14" name="Text 11"/>
          <p:cNvSpPr/>
          <p:nvPr/>
        </p:nvSpPr>
        <p:spPr>
          <a:xfrm>
            <a:off x="731520" y="363931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7651C9"/>
                </a:solidFill>
              </a:rPr>
              <a:t>Aclaración</a:t>
            </a:r>
            <a:endParaRPr lang="en-US" sz="1180" dirty="0"/>
          </a:p>
        </p:txBody>
      </p:sp>
      <p:sp>
        <p:nvSpPr>
          <p:cNvPr id="15" name="Text 12"/>
          <p:cNvSpPr/>
          <p:nvPr/>
        </p:nvSpPr>
        <p:spPr>
          <a:xfrm>
            <a:off x="2240280" y="36393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7202A"/>
                </a:solidFill>
              </a:rPr>
              <a:t>Explícame el modelo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731520" y="42976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B8483D"/>
                </a:solidFill>
              </a:rPr>
              <a:t>Fallback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2240280" y="4297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7202A"/>
                </a:solidFill>
              </a:rPr>
              <a:t>¿Cuál es la capital de Japón?</a:t>
            </a:r>
            <a:endParaRPr lang="en-US" sz="1060" dirty="0"/>
          </a:p>
        </p:txBody>
      </p:sp>
      <p:sp>
        <p:nvSpPr>
          <p:cNvPr id="18" name="Shape 15"/>
          <p:cNvSpPr/>
          <p:nvPr/>
        </p:nvSpPr>
        <p:spPr>
          <a:xfrm>
            <a:off x="731520" y="4663440"/>
            <a:ext cx="5029200" cy="1325880"/>
          </a:xfrm>
          <a:prstGeom prst="roundRect">
            <a:avLst>
              <a:gd name="adj" fmla="val 3448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4754880"/>
            <a:ext cx="4809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= gr.ChatInterface(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fn=responder_gradio,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title="TutorBot",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examples=[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"¿Qué diferencia hay entre...",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"¿Qué hace la clase QLearningAgent?",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"Quiero crear un dashboard..."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save_history=True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5852160" y="5367528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D5BFF"/>
                </a:solidFill>
              </a:rPr>
              <a:t>URL: tutorbot-production-6cf1.up.railway.app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188A1F22-6E48-4E9F-9631-5063D1649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53" y="1363533"/>
            <a:ext cx="6531214" cy="301891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Evaluación cuantitativa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evaluación separa recuperación, selección de herramienta y generación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Los éxitos de routing/generación se presentan junto con oportunidades de mejora del retriever.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749808" y="16002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6770"/>
                </a:solidFill>
              </a:rPr>
              <a:t>Componente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331720" y="16002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6770"/>
                </a:solidFill>
              </a:rPr>
              <a:t>Métrica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0" y="16002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6770"/>
                </a:solidFill>
              </a:rPr>
              <a:t>Valor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715000" y="160020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6770"/>
                </a:solidFill>
              </a:rPr>
              <a:t>Meta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92240" y="16002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6770"/>
                </a:solidFill>
              </a:rPr>
              <a:t>Estado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" y="1865376"/>
            <a:ext cx="6720840" cy="39319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9202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Retriever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331720" y="19202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Hit Rate@3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4754880" y="192024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B8483D"/>
                </a:solidFill>
              </a:rPr>
              <a:t>0.444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715000" y="1920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0.80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6492240" y="19202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B8483D"/>
                </a:solidFill>
              </a:rPr>
              <a:t>No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749808" y="230428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Retriever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2331720" y="23042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MRR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4754880" y="230428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B8483D"/>
                </a:solidFill>
              </a:rPr>
              <a:t>0.315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5715000" y="23042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0.70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6492240" y="23042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B8483D"/>
                </a:solidFill>
              </a:rPr>
              <a:t>No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685800" y="2633472"/>
            <a:ext cx="6720840" cy="39319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688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Retriever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2331720" y="26883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Precision@3</a:t>
            </a:r>
            <a:endParaRPr lang="en-US" sz="960" dirty="0"/>
          </a:p>
        </p:txBody>
      </p:sp>
      <p:sp>
        <p:nvSpPr>
          <p:cNvPr id="26" name="Text 24"/>
          <p:cNvSpPr/>
          <p:nvPr/>
        </p:nvSpPr>
        <p:spPr>
          <a:xfrm>
            <a:off x="4754880" y="268833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5B6770"/>
                </a:solidFill>
              </a:rPr>
              <a:t>0.185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715000" y="268833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-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6492240" y="26883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5B6770"/>
                </a:solidFill>
              </a:rPr>
              <a:t>-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749808" y="30723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Retriever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2331720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Recall@3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4754880" y="30723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5B6770"/>
                </a:solidFill>
              </a:rPr>
              <a:t>0.185</a:t>
            </a:r>
            <a:endParaRPr lang="en-US" sz="960" dirty="0"/>
          </a:p>
        </p:txBody>
      </p:sp>
      <p:sp>
        <p:nvSpPr>
          <p:cNvPr id="32" name="Text 30"/>
          <p:cNvSpPr/>
          <p:nvPr/>
        </p:nvSpPr>
        <p:spPr>
          <a:xfrm>
            <a:off x="5715000" y="307238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-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6492240" y="30723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5B6770"/>
                </a:solidFill>
              </a:rPr>
              <a:t>-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85800" y="3401568"/>
            <a:ext cx="6720840" cy="39319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" y="34564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7202A"/>
                </a:solidFill>
              </a:rPr>
              <a:t>Enrutamiento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2331720" y="3456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Accuracy herramienta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754880" y="345643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1.000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5715000" y="34564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0.85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6492240" y="34564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Sí</a:t>
            </a:r>
            <a:endParaRPr lang="en-US" sz="960" dirty="0"/>
          </a:p>
        </p:txBody>
      </p:sp>
      <p:sp>
        <p:nvSpPr>
          <p:cNvPr id="40" name="Text 38"/>
          <p:cNvSpPr/>
          <p:nvPr/>
        </p:nvSpPr>
        <p:spPr>
          <a:xfrm>
            <a:off x="749808" y="38404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7202A"/>
                </a:solidFill>
              </a:rPr>
              <a:t>Generación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2331720" y="3840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Faithfulness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4754880" y="384048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1.000</a:t>
            </a:r>
            <a:endParaRPr lang="en-US" sz="960" dirty="0"/>
          </a:p>
        </p:txBody>
      </p:sp>
      <p:sp>
        <p:nvSpPr>
          <p:cNvPr id="43" name="Text 41"/>
          <p:cNvSpPr/>
          <p:nvPr/>
        </p:nvSpPr>
        <p:spPr>
          <a:xfrm>
            <a:off x="5715000" y="38404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0.90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6492240" y="38404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Sí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685800" y="4169664"/>
            <a:ext cx="6720840" cy="39319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2245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7202A"/>
                </a:solidFill>
              </a:rPr>
              <a:t>Generación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2331720" y="42245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Answer Relevancy</a:t>
            </a:r>
            <a:endParaRPr lang="en-US" sz="960" dirty="0"/>
          </a:p>
        </p:txBody>
      </p:sp>
      <p:sp>
        <p:nvSpPr>
          <p:cNvPr id="48" name="Text 46"/>
          <p:cNvSpPr/>
          <p:nvPr/>
        </p:nvSpPr>
        <p:spPr>
          <a:xfrm>
            <a:off x="4754880" y="422452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1.000</a:t>
            </a:r>
            <a:endParaRPr lang="en-US" sz="960" dirty="0"/>
          </a:p>
        </p:txBody>
      </p:sp>
      <p:sp>
        <p:nvSpPr>
          <p:cNvPr id="49" name="Text 47"/>
          <p:cNvSpPr/>
          <p:nvPr/>
        </p:nvSpPr>
        <p:spPr>
          <a:xfrm>
            <a:off x="5715000" y="4224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0.85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6492240" y="4224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Sí</a:t>
            </a:r>
            <a:endParaRPr lang="en-US" sz="960" dirty="0"/>
          </a:p>
        </p:txBody>
      </p:sp>
      <p:sp>
        <p:nvSpPr>
          <p:cNvPr id="51" name="Text 49"/>
          <p:cNvSpPr/>
          <p:nvPr/>
        </p:nvSpPr>
        <p:spPr>
          <a:xfrm>
            <a:off x="749808" y="46085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7202A"/>
                </a:solidFill>
              </a:rPr>
              <a:t>Generación</a:t>
            </a:r>
            <a:endParaRPr lang="en-US" sz="960" dirty="0"/>
          </a:p>
        </p:txBody>
      </p:sp>
      <p:sp>
        <p:nvSpPr>
          <p:cNvPr id="52" name="Text 50"/>
          <p:cNvSpPr/>
          <p:nvPr/>
        </p:nvSpPr>
        <p:spPr>
          <a:xfrm>
            <a:off x="2331720" y="460857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17202A"/>
                </a:solidFill>
              </a:rPr>
              <a:t>Answer Correctness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4754880" y="460857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0.917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5715000" y="46085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5B6770"/>
                </a:solidFill>
              </a:rPr>
              <a:t>-</a:t>
            </a:r>
            <a:endParaRPr lang="en-US" sz="960" dirty="0"/>
          </a:p>
        </p:txBody>
      </p:sp>
      <p:sp>
        <p:nvSpPr>
          <p:cNvPr id="55" name="Text 53"/>
          <p:cNvSpPr/>
          <p:nvPr/>
        </p:nvSpPr>
        <p:spPr>
          <a:xfrm>
            <a:off x="6492240" y="46085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16825D"/>
                </a:solidFill>
              </a:rPr>
              <a:t>-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7818120" y="1417320"/>
            <a:ext cx="3520440" cy="822960"/>
          </a:xfrm>
          <a:prstGeom prst="roundRect">
            <a:avLst>
              <a:gd name="adj" fmla="val 6667"/>
            </a:avLst>
          </a:prstGeom>
          <a:solidFill>
            <a:srgbClr val="E9F5F0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946136" y="1527048"/>
            <a:ext cx="3264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Enrutamiento perfecto: el agente eligió la herramienta esperada en 32/32 casos.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7818120" y="2514600"/>
            <a:ext cx="3520440" cy="960120"/>
          </a:xfrm>
          <a:prstGeom prst="roundRect">
            <a:avLst>
              <a:gd name="adj" fmla="val 5714"/>
            </a:avLst>
          </a:prstGeom>
          <a:solidFill>
            <a:srgbClr val="FFF1DD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946136" y="2624328"/>
            <a:ext cx="326440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Generación robusta: Faithfulness y Relevancy alcanzaron 1.000; Correctness promedió 0.917.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818120" y="379476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DE9E6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946136" y="3904488"/>
            <a:ext cx="32644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Retriever: el corpus aumentó a 15k chunks; el siguiente paso es reranking y un </a:t>
            </a:r>
            <a:r>
              <a:rPr lang="en-US" sz="1200" dirty="0" err="1">
                <a:solidFill>
                  <a:srgbClr val="17202A"/>
                </a:solidFill>
              </a:rPr>
              <a:t>modelo</a:t>
            </a:r>
            <a:r>
              <a:rPr lang="en-US" sz="1200" dirty="0">
                <a:solidFill>
                  <a:srgbClr val="17202A"/>
                </a:solidFill>
              </a:rPr>
              <a:t> superior para </a:t>
            </a:r>
            <a:r>
              <a:rPr lang="en-US" sz="1200" dirty="0" err="1">
                <a:solidFill>
                  <a:srgbClr val="17202A"/>
                </a:solidFill>
              </a:rPr>
              <a:t>implementación</a:t>
            </a:r>
            <a:r>
              <a:rPr lang="en-US" sz="1200" dirty="0">
                <a:solidFill>
                  <a:srgbClr val="17202A"/>
                </a:solidFill>
              </a:rPr>
              <a:t> real.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818120" y="5138928"/>
            <a:ext cx="3520440" cy="896112"/>
          </a:xfrm>
          <a:prstGeom prst="roundRect">
            <a:avLst>
              <a:gd name="adj" fmla="val 5102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27848" y="5230368"/>
            <a:ext cx="33009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 = pd.DataFrame({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"Componente": [...],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"Métrica": [...],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"Obtenido": [...],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"Objetivo": [...]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Limitaciones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58368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Limitaciones encontradas y decisiones tomadas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Se priorizó una solución desplegada y explicable; el retriever aún puede mejorar.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777240" y="1591056"/>
            <a:ext cx="73152" cy="73152"/>
          </a:xfrm>
          <a:prstGeom prst="ellipse">
            <a:avLst/>
          </a:prstGeom>
          <a:solidFill>
            <a:srgbClr val="B8483D"/>
          </a:solidFill>
          <a:ln w="12700">
            <a:solidFill>
              <a:srgbClr val="B8483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08760"/>
            <a:ext cx="54406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2A"/>
                </a:solidFill>
              </a:rPr>
              <a:t>Corpus amplio: El salto a 9 cursos elevó la búsqueda a 15k+ chunks y redujo Hit Rate@3.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304288"/>
            <a:ext cx="73152" cy="7315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221992"/>
            <a:ext cx="54406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2A"/>
                </a:solidFill>
              </a:rPr>
              <a:t>Latencia/costo: Gemini Pro y BGE-M3 dan calidad, pero aumentan tiempo de arranque y consumo.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73152" cy="73152"/>
          </a:xfrm>
          <a:prstGeom prst="ellipse">
            <a:avLst/>
          </a:prstGeom>
          <a:solidFill>
            <a:srgbClr val="7651C9"/>
          </a:solidFill>
          <a:ln w="12700">
            <a:solidFill>
              <a:srgbClr val="7651C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2935224"/>
            <a:ext cx="54406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2A"/>
                </a:solidFill>
              </a:rPr>
              <a:t>Memoria corta: Funciona por sesión; no guarda preferencias entre visitas.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73152" cy="73152"/>
          </a:xfrm>
          <a:prstGeom prst="ellipse">
            <a:avLst/>
          </a:prstGeom>
          <a:solidFill>
            <a:srgbClr val="2D5BFF"/>
          </a:solidFill>
          <a:ln w="12700">
            <a:solidFill>
              <a:srgbClr val="2D5B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" y="3648456"/>
            <a:ext cx="54406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2A"/>
                </a:solidFill>
              </a:rPr>
              <a:t>Texto de interfaz: El backend cubre el diplomado; la etiqueta visual puede alinearse al alcance global.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086600" y="1600200"/>
            <a:ext cx="4343400" cy="11430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96328" y="1691640"/>
            <a:ext cx="41239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"429" in mensaje or "RESOURCE_EXHAUSTED" in mensaje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"503" in mensaje or "UNAVAILABLE" in mensaje: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espera = min(10 * intento, 60)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espera = 1.5 * intento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086600" y="3154680"/>
            <a:ext cx="4343400" cy="868680"/>
          </a:xfrm>
          <a:prstGeom prst="roundRect">
            <a:avLst>
              <a:gd name="adj" fmla="val 5263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96328" y="3246120"/>
            <a:ext cx="4123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MAX_MENSAJES = 8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memoria corta: evita almacenar datos personales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limita el costo de contexto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86600" y="4617720"/>
            <a:ext cx="4343400" cy="969264"/>
          </a:xfrm>
          <a:prstGeom prst="roundRect">
            <a:avLst>
              <a:gd name="adj" fmla="val 5660"/>
            </a:avLst>
          </a:prstGeom>
          <a:solidFill>
            <a:srgbClr val="FFF1DD"/>
          </a:solidFill>
          <a:ln w="6350">
            <a:solidFill>
              <a:srgbClr val="D6CA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4616" y="4727448"/>
            <a:ext cx="40873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7202A"/>
                </a:solidFill>
              </a:rPr>
              <a:t>Lectura de resultados: el sistema ya cumple flujos, despliegue y generación; la mejora prioritaria es recuperar mejor dentro de un corpus heterogéneo.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Entregable 3</a:t>
            </a:r>
            <a:endParaRPr lang="en-US" sz="7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10312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0"/>
                </a:solidFill>
              </a:rPr>
              <a:t>Mejoras futuras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155680" y="1645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770"/>
                </a:solidFill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475488"/>
            <a:ext cx="11384280" cy="0"/>
          </a:xfrm>
          <a:prstGeom prst="line">
            <a:avLst/>
          </a:prstGeom>
          <a:noFill/>
          <a:ln w="8890">
            <a:solidFill>
              <a:srgbClr val="D6CA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59" y="658368"/>
            <a:ext cx="1099700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Siguientes</a:t>
            </a:r>
            <a:r>
              <a:rPr lang="en-US" sz="2700" b="1" dirty="0">
                <a:solidFill>
                  <a:srgbClr val="17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pasos: precisión de recuperación y experiencia de usuario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5257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5B6770"/>
                </a:solidFill>
              </a:rPr>
              <a:t>La arquitectura ya permite mejorar sin rehacer el despliegue.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2A"/>
                </a:solidFill>
              </a:rPr>
              <a:t>Filtro por curso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20440" y="15087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5B6770"/>
                </a:solidFill>
              </a:rPr>
              <a:t>Detectar el curso probable antes de consultar FAISS.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825D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2A"/>
                </a:solidFill>
              </a:rPr>
              <a:t>Reranking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20440" y="228600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5B6770"/>
                </a:solidFill>
              </a:rPr>
              <a:t>Añadir un cross-encoder o reranker para reordenar top-k.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77240" y="3063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5B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2A"/>
                </a:solidFill>
              </a:rPr>
              <a:t>Caché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306324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5B6770"/>
                </a:solidFill>
              </a:rPr>
              <a:t>Persistir embeddings/modelo entre arranques o usar un servicio externo.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777240" y="38404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651C9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3840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202A"/>
                </a:solidFill>
              </a:rPr>
              <a:t>UX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38404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5B6770"/>
                </a:solidFill>
              </a:rPr>
              <a:t>Mostrar fuentes recuperadas y etiqueta de flujo usada.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7040880" y="1627632"/>
            <a:ext cx="4343400" cy="1938528"/>
          </a:xfrm>
          <a:prstGeom prst="roundRect">
            <a:avLst>
              <a:gd name="adj" fmla="val 2358"/>
            </a:avLst>
          </a:prstGeom>
          <a:solidFill>
            <a:srgbClr val="111827"/>
          </a:solidFill>
          <a:ln w="7620">
            <a:solidFill>
              <a:srgbClr val="2831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50608" y="1719072"/>
            <a:ext cx="4123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Próxima mejora técnica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curso_probable = clasificar_curso(consulta)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 = recuperar(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consulta,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tipos=tipos,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filtro={"curso": curso_probable}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E8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 = rerank(consulta, resultados)</a:t>
            </a:r>
            <a:endParaRPr lang="en-US" sz="870" dirty="0"/>
          </a:p>
        </p:txBody>
      </p:sp>
      <p:pic>
        <p:nvPicPr>
          <p:cNvPr id="21" name="Image 0" descr="/mnt/data/2877a550-cce5-440f-b0cf-9295ab48f369.png"/>
          <p:cNvPicPr>
            <a:picLocks noChangeAspect="1"/>
          </p:cNvPicPr>
          <p:nvPr/>
        </p:nvPicPr>
        <p:blipFill>
          <a:blip r:embed="rId3"/>
          <a:srcRect t="12559" b="12559"/>
          <a:stretch/>
        </p:blipFill>
        <p:spPr>
          <a:xfrm>
            <a:off x="7040880" y="3886200"/>
            <a:ext cx="4343400" cy="150876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040880" y="55961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5B6770"/>
                </a:solidFill>
              </a:rPr>
              <a:t>Código, corpus empaquetado e índices desplegables quedan versionados para entrega.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594360" y="65653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8B8275"/>
                </a:solidFill>
              </a:rPr>
              <a:t>TutorBot · despliegue Railway · GitHub Release · Gradio</a:t>
            </a:r>
            <a:endParaRPr lang="en-US" sz="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1898</Words>
  <Application>Microsoft Office PowerPoint</Application>
  <PresentationFormat>Panorámica</PresentationFormat>
  <Paragraphs>377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PUCP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TutorBot: agente académico con RAG</dc:title>
  <dc:subject>TutorBot - Entregable 3</dc:subject>
  <dc:creator>Grupo 5</dc:creator>
  <cp:lastModifiedBy>Diego Chiang</cp:lastModifiedBy>
  <cp:revision>5</cp:revision>
  <dcterms:created xsi:type="dcterms:W3CDTF">2026-08-21T08:31:59Z</dcterms:created>
  <dcterms:modified xsi:type="dcterms:W3CDTF">2026-08-21T23:20:40Z</dcterms:modified>
</cp:coreProperties>
</file>